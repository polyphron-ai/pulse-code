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Pulse Code architecture: docs/internals/overview.md
- Pulse workforce research: docs/research/ai-workforce-arena/comparison-and-pulse-code-recommendation.md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Pulse workforce recommendation: docs/research/ai-workforce-arena/comparison-and-pulse-code-recommendation.md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Pulse Code event-sourced architecture: docs/internals/overview.md
- Framework docs: https://adk.dev/ ; https://openai.github.io/openai-agents-python/ ; https://mastra.ai/ai-agent-framework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Pulse workforce domain proposal: docs/research/ai-workforce-arena/comparison-and-pulse-code-recommendation.md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Pi / OMP dossier: docs/research/ai-workforce-arena/02-pi-and-oh-my-pi.md
- Hermes dossier: docs/research/ai-workforce-arena/03-hermes-agent.md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Google Agent Development Kit: https://adk.dev/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OpenAI Agents SDK: https://openai.github.io/openai-agents-python/
- OpenAI orchestration: https://openai.github.io/openai-agents-python/multi_agent/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Mastra framework: https://mastra.ai/ai-agent-framework
- Mastra MCP documentation: https://mastra.ai/docs/agents/mcp-guide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Comparative assessment based on official framework documentation and Pulse architecture research cited throughout this deck. Scores are directional design judgments, not benchmarks.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Pulse Code architecture: docs/internals/overview.md
- Pulse workforce recommendation: docs/research/ai-workforce-arena/comparison-and-pulse-code-recommendation.md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Recommended adoption order: docs/research/ai-workforce-arena/comparison-and-pulse-code-recommendation.md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71500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DECK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1787426"/>
            <a:ext cx="5803341" cy="98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8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as the control plane</a:t>
            </a:r>
            <a:endParaRPr lang="en-US" sz="3800" dirty="0"/>
          </a:p>
          <a:p>
            <a:pPr algn="l" indent="0" marL="0">
              <a:lnSpc>
                <a:spcPts val="3876"/>
              </a:lnSpc>
              <a:buNone/>
            </a:pPr>
            <a:r>
              <a:rPr lang="en-US" sz="38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 AI workforce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50" y="2898725"/>
            <a:ext cx="5803341" cy="570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4"/>
              </a:lnSpc>
              <a:spcBef>
                <a:spcPts val="1000"/>
              </a:spcBef>
              <a:buNone/>
            </a:pPr>
            <a:r>
              <a:rPr lang="en-US" sz="17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Pi / OMP, Hermes, Google ADK, OpenAI Agents SDK and Mastra belong.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197501" y="1135856"/>
            <a:ext cx="2438400" cy="2984450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59413" y="1135856"/>
            <a:ext cx="0" cy="2984450"/>
          </a:xfrm>
          <a:prstGeom prst="line">
            <a:avLst/>
          </a:prstGeom>
          <a:noFill/>
          <a:ln w="123825">
            <a:solidFill>
              <a:srgbClr val="3D8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49926" y="2645569"/>
            <a:ext cx="1894523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49926" y="2897832"/>
            <a:ext cx="1894523" cy="90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spcBef>
                <a:spcPts val="800"/>
              </a:spcBef>
              <a:buNone/>
            </a:pPr>
            <a:r>
              <a:rPr lang="en-US" sz="18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work.</a:t>
            </a:r>
            <a:endParaRPr lang="en-US" sz="1800" dirty="0"/>
          </a:p>
          <a:p>
            <a:pPr algn="l" indent="0" marL="0">
              <a:lnSpc>
                <a:spcPts val="2376"/>
              </a:lnSpc>
              <a:spcBef>
                <a:spcPts val="800"/>
              </a:spcBef>
              <a:buNone/>
            </a:pPr>
            <a:r>
              <a:rPr lang="en-US" sz="18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in the workers.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CHOICE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58564"/>
            <a:ext cx="8290661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spcBef>
                <a:spcPts val="800"/>
              </a:spcBef>
              <a:buNone/>
            </a:pPr>
            <a:r>
              <a:rPr lang="en-US" sz="27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execute work. Pulse owns what the work means.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7950" y="1678484"/>
            <a:ext cx="3790950" cy="285541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0813" y="1678484"/>
            <a:ext cx="0" cy="2855416"/>
          </a:xfrm>
          <a:prstGeom prst="line">
            <a:avLst/>
          </a:prstGeom>
          <a:noFill/>
          <a:ln w="85725">
            <a:solidFill>
              <a:srgbClr val="3D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894284"/>
            <a:ext cx="3209455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CONTROL PLANE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73026" y="2159347"/>
            <a:ext cx="3209455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Bef>
                <a:spcPts val="900"/>
              </a:spcBef>
              <a:buNone/>
            </a:pPr>
            <a:r>
              <a:rPr lang="en-US" sz="2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2000" dirty="0"/>
          </a:p>
          <a:p>
            <a:pPr algn="l" indent="0" marL="0">
              <a:lnSpc>
                <a:spcPts val="2560"/>
              </a:lnSpc>
              <a:spcBef>
                <a:spcPts val="900"/>
              </a:spcBef>
              <a:buNone/>
            </a:pPr>
            <a:r>
              <a:rPr lang="en-US" sz="2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</a:t>
            </a:r>
            <a:endParaRPr lang="en-US" sz="2000" dirty="0"/>
          </a:p>
          <a:p>
            <a:pPr algn="l" indent="0" marL="0">
              <a:lnSpc>
                <a:spcPts val="2560"/>
              </a:lnSpc>
              <a:spcBef>
                <a:spcPts val="900"/>
              </a:spcBef>
              <a:buNone/>
            </a:pPr>
            <a:r>
              <a:rPr lang="en-US" sz="2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orders</a:t>
            </a:r>
            <a:endParaRPr lang="en-US" sz="2000" dirty="0"/>
          </a:p>
          <a:p>
            <a:pPr algn="l" indent="0" marL="0">
              <a:lnSpc>
                <a:spcPts val="2560"/>
              </a:lnSpc>
              <a:spcBef>
                <a:spcPts val="900"/>
              </a:spcBef>
              <a:buNone/>
            </a:pPr>
            <a:r>
              <a:rPr lang="en-US" sz="2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2000" dirty="0"/>
          </a:p>
          <a:p>
            <a:pPr algn="l" indent="0" marL="0">
              <a:lnSpc>
                <a:spcPts val="2560"/>
              </a:lnSpc>
              <a:spcBef>
                <a:spcPts val="900"/>
              </a:spcBef>
              <a:buNone/>
            </a:pPr>
            <a:r>
              <a:rPr lang="en-US" sz="2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52801" y="1894284"/>
            <a:ext cx="4164913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RUNTIMES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52801" y="2171998"/>
            <a:ext cx="4164913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/ OMP and Hermes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2801" y="2537073"/>
            <a:ext cx="4164913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strongest worker candidates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52801" y="2928789"/>
            <a:ext cx="4164913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ADK, OpenAI and Mastra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2801" y="3293864"/>
            <a:ext cx="4164913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backends, not replacement control planes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SYSTEM BOUNDARY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58564"/>
            <a:ext cx="8290661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spcBef>
                <a:spcPts val="800"/>
              </a:spcBef>
              <a:buNone/>
            </a:pPr>
            <a:r>
              <a:rPr lang="en-US" sz="27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durable Pulse state machine, many execution backends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7950" y="1614934"/>
            <a:ext cx="8128099" cy="505271"/>
          </a:xfrm>
          <a:prstGeom prst="rect">
            <a:avLst/>
          </a:prstGeom>
          <a:solidFill>
            <a:srgbClr val="1113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6550" y="1741884"/>
            <a:ext cx="1281535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UI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00613" y="1741884"/>
            <a:ext cx="3576974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· SOPs · queue · approvals ·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2209056"/>
            <a:ext cx="8128099" cy="727472"/>
          </a:xfrm>
          <a:prstGeom prst="rect">
            <a:avLst/>
          </a:prstGeom>
          <a:solidFill>
            <a:srgbClr val="3D8D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2336006"/>
            <a:ext cx="7824317" cy="26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control plane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6550" y="2642146"/>
            <a:ext cx="7824317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commands · events · policies · budgets · artifacts · receipts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61470" y="3025378"/>
            <a:ext cx="18574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500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work-order dispatch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950" y="3304729"/>
            <a:ext cx="1917799" cy="940891"/>
          </a:xfrm>
          <a:prstGeom prst="rect">
            <a:avLst/>
          </a:prstGeom>
          <a:solidFill>
            <a:srgbClr val="EEF1F5"/>
          </a:solidFill>
          <a:ln w="9525">
            <a:solidFill>
              <a:srgbClr val="C9CED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076" y="3453854"/>
            <a:ext cx="1651939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/ OMP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076" y="3744664"/>
            <a:ext cx="1651939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and isolated specialists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78150" y="3304729"/>
            <a:ext cx="1917650" cy="940891"/>
          </a:xfrm>
          <a:prstGeom prst="rect">
            <a:avLst/>
          </a:prstGeom>
          <a:solidFill>
            <a:srgbClr val="EEF1F5"/>
          </a:solidFill>
          <a:ln w="9525">
            <a:solidFill>
              <a:srgbClr val="C9CED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27275" y="3453854"/>
            <a:ext cx="1651787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27275" y="3744664"/>
            <a:ext cx="1651787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operations workers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48200" y="3304729"/>
            <a:ext cx="1917799" cy="940891"/>
          </a:xfrm>
          <a:prstGeom prst="rect">
            <a:avLst/>
          </a:prstGeom>
          <a:solidFill>
            <a:srgbClr val="EEF1F5"/>
          </a:solidFill>
          <a:ln w="9525">
            <a:solidFill>
              <a:srgbClr val="C9CED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97326" y="3453854"/>
            <a:ext cx="1651939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97326" y="3744664"/>
            <a:ext cx="1651939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graph and agent teams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18399" y="3304729"/>
            <a:ext cx="1917650" cy="940891"/>
          </a:xfrm>
          <a:prstGeom prst="rect">
            <a:avLst/>
          </a:prstGeom>
          <a:solidFill>
            <a:srgbClr val="EEF1F5"/>
          </a:solidFill>
          <a:ln w="9525">
            <a:solidFill>
              <a:srgbClr val="C9CED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67525" y="3453854"/>
            <a:ext cx="1651787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6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Mastra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67525" y="3744664"/>
            <a:ext cx="1651787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workers or SOP runs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58564"/>
            <a:ext cx="8290661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spcBef>
                <a:spcPts val="800"/>
              </a:spcBef>
              <a:buNone/>
            </a:pPr>
            <a:r>
              <a:rPr lang="en-US" sz="27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workspace shows Pulse concepts, not framework internals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794820" y="1627733"/>
            <a:ext cx="0" cy="2906167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627733"/>
            <a:ext cx="3088770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VIEWS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1905446"/>
            <a:ext cx="3088770" cy="351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7950" y="2308175"/>
            <a:ext cx="3088770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and context boundary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661791"/>
            <a:ext cx="3088770" cy="351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spcBef>
                <a:spcPts val="1400"/>
              </a:spcBef>
              <a:buNone/>
            </a:pPr>
            <a:r>
              <a:rPr lang="en-US" sz="2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7950" y="3064520"/>
            <a:ext cx="3088770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business process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7950" y="3418136"/>
            <a:ext cx="3088770" cy="351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spcBef>
                <a:spcPts val="1400"/>
              </a:spcBef>
              <a:buNone/>
            </a:pPr>
            <a:r>
              <a:rPr lang="en-US" sz="2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7950" y="3820864"/>
            <a:ext cx="3088770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unit of accountability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04382" y="1627733"/>
            <a:ext cx="1943100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OWNS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87083" y="1627733"/>
            <a:ext cx="2497946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CONTRIBUTES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04382" y="1867346"/>
            <a:ext cx="194310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Purpose, permissions, budget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87083" y="1867346"/>
            <a:ext cx="2497946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 tools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04382" y="2140595"/>
            <a:ext cx="194310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and approval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7083" y="2140595"/>
            <a:ext cx="2497946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04382" y="2413843"/>
            <a:ext cx="194310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contract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87083" y="2413843"/>
            <a:ext cx="2497946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result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04382" y="2687092"/>
            <a:ext cx="194310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completion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87083" y="2687092"/>
            <a:ext cx="2497946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and trace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04382" y="3049191"/>
            <a:ext cx="4531668" cy="68937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142482" y="3049191"/>
            <a:ext cx="0" cy="689372"/>
          </a:xfrm>
          <a:prstGeom prst="line">
            <a:avLst/>
          </a:prstGeom>
          <a:noFill/>
          <a:ln w="76200">
            <a:solidFill>
              <a:srgbClr val="3D8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07532" y="3176141"/>
            <a:ext cx="4285598" cy="435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subagent stays inside a work order until Pulse promotes 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WORKER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58564"/>
            <a:ext cx="8290661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spcBef>
                <a:spcPts val="800"/>
              </a:spcBef>
              <a:buNone/>
            </a:pPr>
            <a:r>
              <a:rPr lang="en-US" sz="27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/ OMP and Hermes cover different kinds of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7950" y="1333649"/>
            <a:ext cx="3937099" cy="320025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381274"/>
            <a:ext cx="3937099" cy="0"/>
          </a:xfrm>
          <a:prstGeom prst="line">
            <a:avLst/>
          </a:prstGeom>
          <a:noFill/>
          <a:ln w="95250">
            <a:solidFill>
              <a:srgbClr val="3D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01" y="1708249"/>
            <a:ext cx="3445966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WORKER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7301" y="1985963"/>
            <a:ext cx="3445966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/ OMP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7301" y="2517725"/>
            <a:ext cx="3445966" cy="435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spcBef>
                <a:spcPts val="1500"/>
              </a:spcBef>
              <a:buNone/>
            </a:pPr>
            <a:r>
              <a:rPr lang="en-US" sz="13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bounded repository work, parallel research, implementation, testing and review.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7301" y="3181796"/>
            <a:ext cx="3445966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18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OMP owns its temporary specialist graph. Pulse owns the work order and checkpoint evidence.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98950" y="1333649"/>
            <a:ext cx="3937099" cy="320025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98950" y="1381274"/>
            <a:ext cx="3937099" cy="0"/>
          </a:xfrm>
          <a:prstGeom prst="line">
            <a:avLst/>
          </a:prstGeom>
          <a:noFill/>
          <a:ln w="95250">
            <a:solidFill>
              <a:srgbClr val="111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8301" y="1708249"/>
            <a:ext cx="3445966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WORKER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78301" y="1985963"/>
            <a:ext cx="3445966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78301" y="2517725"/>
            <a:ext cx="3445966" cy="65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spcBef>
                <a:spcPts val="1500"/>
              </a:spcBef>
              <a:buNone/>
            </a:pPr>
            <a:r>
              <a:rPr lang="en-US" sz="13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persistent profiles, recurring research, monitoring, scheduling and tool-heavy operations.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78301" y="3399532"/>
            <a:ext cx="3445966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18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Kanban is an execution reference. Pulse remains the authoritative business queue.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OPTION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58564"/>
            <a:ext cx="8290661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spcBef>
                <a:spcPts val="800"/>
              </a:spcBef>
              <a:buNone/>
            </a:pPr>
            <a:r>
              <a:rPr lang="en-US" sz="27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ADK extends Pulse into hosted enterprise agent systems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7950" y="1703933"/>
            <a:ext cx="4274939" cy="141342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0813" y="1703933"/>
            <a:ext cx="0" cy="1413421"/>
          </a:xfrm>
          <a:prstGeom prst="line">
            <a:avLst/>
          </a:prstGeom>
          <a:noFill/>
          <a:ln w="85725">
            <a:solidFill>
              <a:srgbClr val="3D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932533"/>
            <a:ext cx="3806654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ROLE IN PULSE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275" y="2184797"/>
            <a:ext cx="3806654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spcBef>
                <a:spcPts val="800"/>
              </a:spcBef>
              <a:buNone/>
            </a:pPr>
            <a:r>
              <a:rPr lang="en-US" sz="2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agent and workflow backend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7950" y="3371255"/>
            <a:ext cx="4360438" cy="435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Brings:</a:t>
            </a:r>
            <a:pPr algn="l"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 workflows, agent teams, resume, evaluation, MCP, A2A and Google Cloud deployment.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3997226"/>
            <a:ext cx="4360438" cy="435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spcBef>
                <a:spcPts val="1500"/>
              </a:spcBef>
              <a:buNone/>
            </a:pPr>
            <a:r>
              <a:rPr lang="en-US" sz="13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Boundary:</a:t>
            </a:r>
            <a:pPr algn="l" indent="0" marL="0">
              <a:lnSpc>
                <a:spcPts val="1716"/>
              </a:lnSpc>
              <a:spcBef>
                <a:spcPts val="1500"/>
              </a:spcBef>
              <a:buNone/>
            </a:pPr>
            <a:r>
              <a:rPr lang="en-US" sz="13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ADK run is one Pulse work attempt. ADK checkpoints remain external execution state.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38440" y="1805434"/>
            <a:ext cx="3567562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38440" y="2083147"/>
            <a:ext cx="35675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reach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38440" y="2466529"/>
            <a:ext cx="356756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Cross-language and cloud deployment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38440" y="2921794"/>
            <a:ext cx="35675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2200"/>
              </a:spcBef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effort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38440" y="3305175"/>
            <a:ext cx="356756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Adapter, A2A and lifecycle mapping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38440" y="3760440"/>
            <a:ext cx="35675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2200"/>
              </a:spcBef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overlap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38440" y="4143821"/>
            <a:ext cx="356756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Graphs, sessions and recovery exist twice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OPTION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58564"/>
            <a:ext cx="8290661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spcBef>
                <a:spcPts val="800"/>
              </a:spcBef>
              <a:buNone/>
            </a:pPr>
            <a:r>
              <a:rPr lang="en-US" sz="27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Agents SDK is the cleanest way to add focused workers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7950" y="1703933"/>
            <a:ext cx="4274939" cy="106144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0813" y="1703933"/>
            <a:ext cx="0" cy="1061442"/>
          </a:xfrm>
          <a:prstGeom prst="line">
            <a:avLst/>
          </a:prstGeom>
          <a:noFill/>
          <a:ln w="85725">
            <a:solidFill>
              <a:srgbClr val="3D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932533"/>
            <a:ext cx="3806654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ROLE IN PULSE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275" y="2184797"/>
            <a:ext cx="3806654" cy="351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spcBef>
                <a:spcPts val="800"/>
              </a:spcBef>
              <a:buNone/>
            </a:pPr>
            <a:r>
              <a:rPr lang="en-US" sz="2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worker runtime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7950" y="3019276"/>
            <a:ext cx="4360438" cy="435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Brings:</a:t>
            </a:r>
            <a:pPr algn="l"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agents, tools, manager patterns, handoffs, guardrails, sessions and automatic tracing.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3645247"/>
            <a:ext cx="4360438" cy="435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spcBef>
                <a:spcPts val="1500"/>
              </a:spcBef>
              <a:buNone/>
            </a:pPr>
            <a:r>
              <a:rPr lang="en-US" sz="13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Boundary:</a:t>
            </a:r>
            <a:pPr algn="l" indent="0" marL="0">
              <a:lnSpc>
                <a:spcPts val="1716"/>
              </a:lnSpc>
              <a:spcBef>
                <a:spcPts val="1500"/>
              </a:spcBef>
              <a:buNone/>
            </a:pPr>
            <a:r>
              <a:rPr lang="en-US" sz="13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 output is a candidate artifact. Pulse still validates, approves and completes the work order.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38440" y="1805434"/>
            <a:ext cx="3567562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38440" y="2083147"/>
            <a:ext cx="35675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effort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38440" y="2466529"/>
            <a:ext cx="356756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runner and event adapter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38440" y="2921794"/>
            <a:ext cx="35675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2200"/>
              </a:spcBef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overlap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38440" y="3305175"/>
            <a:ext cx="356756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supplies durable workflow state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38440" y="3760440"/>
            <a:ext cx="35675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2200"/>
              </a:spcBef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tilt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38440" y="4143821"/>
            <a:ext cx="356756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experience stays OpenAI-first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OPTION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58564"/>
            <a:ext cx="8290661" cy="342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800"/>
              </a:spcBef>
              <a:buNone/>
            </a:pPr>
            <a:r>
              <a:rPr lang="en-US" sz="25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Mastra offers the fastest path to typed SOP execution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7950" y="1229916"/>
            <a:ext cx="4274939" cy="92630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0813" y="1229916"/>
            <a:ext cx="0" cy="926306"/>
          </a:xfrm>
          <a:prstGeom prst="line">
            <a:avLst/>
          </a:prstGeom>
          <a:noFill/>
          <a:ln w="85725">
            <a:solidFill>
              <a:srgbClr val="3D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420416"/>
            <a:ext cx="3806654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ROLE IN PULSE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275" y="1647379"/>
            <a:ext cx="3806654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8"/>
              </a:lnSpc>
              <a:spcBef>
                <a:spcPts val="600"/>
              </a:spcBef>
              <a:buNone/>
            </a:pPr>
            <a:r>
              <a:rPr lang="en-US" sz="19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SOP workflow runner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7950" y="2346722"/>
            <a:ext cx="4360438" cy="40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Brings:</a:t>
            </a:r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typed workflows, branches, loops, parallel steps, suspend/resume, approval, MCP, traces and evals.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888456"/>
            <a:ext cx="4360438" cy="40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spcBef>
                <a:spcPts val="1100"/>
              </a:spcBef>
              <a:buNone/>
            </a:pPr>
            <a:r>
              <a:rPr lang="en-US" sz="1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Boundary:</a:t>
            </a:r>
            <a:pPr algn="l" indent="0" marL="0">
              <a:lnSpc>
                <a:spcPts val="1584"/>
              </a:lnSpc>
              <a:spcBef>
                <a:spcPts val="1100"/>
              </a:spcBef>
              <a:buNone/>
            </a:pPr>
            <a:r>
              <a:rPr lang="en-US" sz="12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Mastra executes one SOP attempt. Pulse owns the SOP version and authoritative status.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38440" y="1293316"/>
            <a:ext cx="3567562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38440" y="1532930"/>
            <a:ext cx="3567562" cy="368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38440" y="1939677"/>
            <a:ext cx="356756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Pulse’s TypeScript stack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38440" y="2293293"/>
            <a:ext cx="3567562" cy="368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spcBef>
                <a:spcPts val="1400"/>
              </a:spcBef>
              <a:buNone/>
            </a:pPr>
            <a:r>
              <a:rPr lang="en-US" sz="2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effort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38440" y="2700040"/>
            <a:ext cx="356756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or sidecar integration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38440" y="3053655"/>
            <a:ext cx="3567562" cy="368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spcBef>
                <a:spcPts val="1400"/>
              </a:spcBef>
              <a:buNone/>
            </a:pPr>
            <a:r>
              <a:rPr lang="en-US" sz="2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overlap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38440" y="3460403"/>
            <a:ext cx="356756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and approvals exist twice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58564"/>
            <a:ext cx="8290661" cy="342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800"/>
              </a:spcBef>
              <a:buNone/>
            </a:pPr>
            <a:r>
              <a:rPr lang="en-US" sz="25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framework earns a different place in the stack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7950" y="1175891"/>
            <a:ext cx="8128099" cy="0"/>
          </a:xfrm>
          <a:prstGeom prst="line">
            <a:avLst/>
          </a:prstGeom>
          <a:noFill/>
          <a:ln w="19050">
            <a:solidFill>
              <a:srgbClr val="1113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185416"/>
            <a:ext cx="1905000" cy="482501"/>
          </a:xfrm>
          <a:prstGeom prst="rect">
            <a:avLst/>
          </a:prstGeom>
          <a:solidFill>
            <a:srgbClr val="1113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663154"/>
            <a:ext cx="1905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51" y="1338114"/>
            <a:ext cx="834926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lens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12950" y="1185416"/>
            <a:ext cx="1333500" cy="482501"/>
          </a:xfrm>
          <a:prstGeom prst="rect">
            <a:avLst/>
          </a:prstGeom>
          <a:solidFill>
            <a:srgbClr val="1113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12950" y="1663154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451" y="1338114"/>
            <a:ext cx="757961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6450" y="1185416"/>
            <a:ext cx="1333500" cy="482501"/>
          </a:xfrm>
          <a:prstGeom prst="rect">
            <a:avLst/>
          </a:prstGeom>
          <a:solidFill>
            <a:srgbClr val="1113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746450" y="1663154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7951" y="1338114"/>
            <a:ext cx="769953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SDK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950" y="1185416"/>
            <a:ext cx="1333500" cy="482501"/>
          </a:xfrm>
          <a:prstGeom prst="rect">
            <a:avLst/>
          </a:prstGeom>
          <a:solidFill>
            <a:srgbClr val="1113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950" y="1663154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1451" y="1338114"/>
            <a:ext cx="417615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13450" y="1185416"/>
            <a:ext cx="1333500" cy="482501"/>
          </a:xfrm>
          <a:prstGeom prst="rect">
            <a:avLst/>
          </a:prstGeom>
          <a:solidFill>
            <a:srgbClr val="1113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413450" y="1663154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4951" y="1338114"/>
            <a:ext cx="683880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need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950" y="2171105"/>
            <a:ext cx="1905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451" y="1829098"/>
            <a:ext cx="733217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role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12950" y="217110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451" y="1829098"/>
            <a:ext cx="1028325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backend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46450" y="217110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7951" y="1829098"/>
            <a:ext cx="435831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9950" y="217110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1451" y="1829098"/>
            <a:ext cx="715759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runner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13450" y="217110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4951" y="1829098"/>
            <a:ext cx="49898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7950" y="2679055"/>
            <a:ext cx="1905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451" y="2337048"/>
            <a:ext cx="1275311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effort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12950" y="267905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451" y="2337048"/>
            <a:ext cx="279776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46450" y="267905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7951" y="2337048"/>
            <a:ext cx="272034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79950" y="267905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81451" y="2337048"/>
            <a:ext cx="48380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13450" y="267905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4951" y="2337048"/>
            <a:ext cx="461334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it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7950" y="3187005"/>
            <a:ext cx="1905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451" y="2844998"/>
            <a:ext cx="104320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workflow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12950" y="318700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451" y="2844998"/>
            <a:ext cx="400764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746450" y="318700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7951" y="2844998"/>
            <a:ext cx="49898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79950" y="318700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81451" y="2844998"/>
            <a:ext cx="438260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13450" y="3187005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4951" y="2844998"/>
            <a:ext cx="786348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Pulse-owned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7950" y="3694956"/>
            <a:ext cx="1905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9451" y="3352949"/>
            <a:ext cx="1156600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Duplicate-state risk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412950" y="3694956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14451" y="3352949"/>
            <a:ext cx="279776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746450" y="3694956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7951" y="3352949"/>
            <a:ext cx="272034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079950" y="3694956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81451" y="3352949"/>
            <a:ext cx="56714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413450" y="3694956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14951" y="3352949"/>
            <a:ext cx="559552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07950" y="4202906"/>
            <a:ext cx="19050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9451" y="3860899"/>
            <a:ext cx="899746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412950" y="4202906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14451" y="3860899"/>
            <a:ext cx="729877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+ cloud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746450" y="4202906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7951" y="3860899"/>
            <a:ext cx="816406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workers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079950" y="4202906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81451" y="3860899"/>
            <a:ext cx="657618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SOPs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413450" y="4202906"/>
            <a:ext cx="13335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14951" y="3860899"/>
            <a:ext cx="763729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SHAPE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58564"/>
            <a:ext cx="8290661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spcBef>
                <a:spcPts val="800"/>
              </a:spcBef>
              <a:buNone/>
            </a:pPr>
            <a:r>
              <a:rPr lang="en-US" sz="27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execution contract keeps frameworks replaceable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7950" y="1614934"/>
            <a:ext cx="3464421" cy="2918966"/>
          </a:xfrm>
          <a:prstGeom prst="rect">
            <a:avLst/>
          </a:prstGeom>
          <a:solidFill>
            <a:srgbClr val="1113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1830735"/>
            <a:ext cx="2989642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AEB5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CONTRACTS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4650" y="2095798"/>
            <a:ext cx="2989642" cy="1540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150" dirty="0"/>
          </a:p>
          <a:p>
            <a:pPr algn="l" indent="0" marL="0">
              <a:lnSpc>
                <a:spcPts val="1518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WorkerTemplate</a:t>
            </a:r>
            <a:endParaRPr lang="en-US" sz="1150" dirty="0"/>
          </a:p>
          <a:p>
            <a:pPr algn="l" indent="0" marL="0">
              <a:lnSpc>
                <a:spcPts val="1518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SopDefinition</a:t>
            </a:r>
            <a:endParaRPr lang="en-US" sz="1150" dirty="0"/>
          </a:p>
          <a:p>
            <a:pPr algn="l" indent="0" marL="0">
              <a:lnSpc>
                <a:spcPts val="1518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WorkOrder</a:t>
            </a:r>
            <a:endParaRPr lang="en-US" sz="1150" dirty="0"/>
          </a:p>
          <a:p>
            <a:pPr algn="l" indent="0" marL="0">
              <a:lnSpc>
                <a:spcPts val="1518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WorkAttempt</a:t>
            </a:r>
            <a:endParaRPr lang="en-US" sz="1150" dirty="0"/>
          </a:p>
          <a:p>
            <a:pPr algn="l" indent="0" marL="0">
              <a:lnSpc>
                <a:spcPts val="1518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</a:t>
            </a:r>
            <a:endParaRPr lang="en-US" sz="1150" dirty="0"/>
          </a:p>
          <a:p>
            <a:pPr algn="l" indent="0" marL="0">
              <a:lnSpc>
                <a:spcPts val="1518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</a:t>
            </a:r>
            <a:endParaRPr lang="en-US" sz="1150" dirty="0"/>
          </a:p>
          <a:p>
            <a:pPr algn="l" indent="0" marL="0">
              <a:lnSpc>
                <a:spcPts val="1518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WorkReceipt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51722" y="1614934"/>
            <a:ext cx="4472014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WORKEXECUTIONBACKEND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75534" y="1867198"/>
            <a:ext cx="0" cy="1099542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7048" y="1867198"/>
            <a:ext cx="4242182" cy="21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pPr algn="l"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typed attempt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77048" y="2161133"/>
            <a:ext cx="4242182" cy="21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</a:t>
            </a:r>
            <a:pPr algn="l" indent="0" marL="0">
              <a:lnSpc>
                <a:spcPts val="1716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durable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77048" y="2455069"/>
            <a:ext cx="4242182" cy="21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pPr algn="l" indent="0" marL="0">
              <a:lnSpc>
                <a:spcPts val="1716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without ambiguity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77048" y="2749004"/>
            <a:ext cx="4242182" cy="21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pPr algn="l" indent="0" marL="0">
              <a:lnSpc>
                <a:spcPts val="1716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normalized events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722" y="3131790"/>
            <a:ext cx="4384328" cy="916484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91323" y="3271391"/>
            <a:ext cx="4187229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only meaningful activity.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91323" y="3556843"/>
            <a:ext cx="4187229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broadcast every token or transient subagent event across web, desktop and mobile.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66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SEQUENCE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58564"/>
            <a:ext cx="8290661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spcBef>
                <a:spcPts val="800"/>
              </a:spcBef>
              <a:buNone/>
            </a:pPr>
            <a:r>
              <a:rPr lang="en-US" sz="27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control plane first, then add execution backends by value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7950" y="1767334"/>
            <a:ext cx="1524149" cy="0"/>
          </a:xfrm>
          <a:prstGeom prst="line">
            <a:avLst/>
          </a:prstGeom>
          <a:noFill/>
          <a:ln w="76200">
            <a:solidFill>
              <a:srgbClr val="1113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901" y="1970484"/>
            <a:ext cx="1295653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4901" y="2239417"/>
            <a:ext cx="1295653" cy="199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domain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2540050"/>
            <a:ext cx="1295653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4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Departments, SOPs, work orders, artifacts and receipts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59050" y="1767334"/>
            <a:ext cx="1524000" cy="0"/>
          </a:xfrm>
          <a:prstGeom prst="line">
            <a:avLst/>
          </a:prstGeom>
          <a:noFill/>
          <a:ln w="76200">
            <a:solidFill>
              <a:srgbClr val="111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970484"/>
            <a:ext cx="1295501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239417"/>
            <a:ext cx="1295501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workers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739182"/>
            <a:ext cx="1295501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4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OMP for Engineering, Hermes for Research and Operations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10000" y="1767334"/>
            <a:ext cx="1524149" cy="0"/>
          </a:xfrm>
          <a:prstGeom prst="line">
            <a:avLst/>
          </a:prstGeom>
          <a:noFill/>
          <a:ln w="76200">
            <a:solidFill>
              <a:srgbClr val="1113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6950" y="1970484"/>
            <a:ext cx="1295653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6950" y="2239417"/>
            <a:ext cx="1295653" cy="199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worker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6950" y="2540050"/>
            <a:ext cx="1295653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4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path to another focused runtime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61099" y="1767334"/>
            <a:ext cx="1524000" cy="0"/>
          </a:xfrm>
          <a:prstGeom prst="line">
            <a:avLst/>
          </a:prstGeom>
          <a:noFill/>
          <a:ln w="76200">
            <a:solidFill>
              <a:srgbClr val="111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8050" y="1970484"/>
            <a:ext cx="1295501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88050" y="2239417"/>
            <a:ext cx="1295501" cy="199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Mastra pilot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8050" y="2540050"/>
            <a:ext cx="1295501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4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bounded, durable SOP with explicit state ownership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12050" y="1767334"/>
            <a:ext cx="1524000" cy="0"/>
          </a:xfrm>
          <a:prstGeom prst="line">
            <a:avLst/>
          </a:prstGeom>
          <a:noFill/>
          <a:ln w="76200">
            <a:solidFill>
              <a:srgbClr val="1113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9000" y="1970484"/>
            <a:ext cx="1295501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39000" y="2239417"/>
            <a:ext cx="1295501" cy="199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via A2A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39000" y="2540050"/>
            <a:ext cx="1295501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4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enterprise departments and external ecosystems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950" y="3582888"/>
            <a:ext cx="8128099" cy="951012"/>
          </a:xfrm>
          <a:prstGeom prst="rect">
            <a:avLst/>
          </a:prstGeom>
          <a:solidFill>
            <a:srgbClr val="3D8D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6550" y="3773388"/>
            <a:ext cx="7824317" cy="570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winning design lets any framework disappear without taking the company’s work history with it.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07950" y="4665762"/>
            <a:ext cx="8128099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430" y="4772025"/>
            <a:ext cx="388620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2"/>
              </a:lnSpc>
              <a:buNone/>
            </a:pPr>
            <a:r>
              <a:rPr lang="en-US" sz="85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Pulse 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as the control plane for an AI workforce</dc:title>
  <dc:subject>AI workforce architecture and agent-framework strategy</dc:subject>
  <dc:creator>Pulse Code</dc:creator>
  <cp:lastModifiedBy>Pulse Code</cp:lastModifiedBy>
  <cp:revision>1</cp:revision>
  <dcterms:created xsi:type="dcterms:W3CDTF">2026-08-28T19:47:41Z</dcterms:created>
  <dcterms:modified xsi:type="dcterms:W3CDTF">2026-08-28T19:47:41Z</dcterms:modified>
</cp:coreProperties>
</file>